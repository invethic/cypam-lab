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49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Exercice. Les causes sont écrites en blanc (réponses cachées, comme dans les exercices 1 et 2) : sélectionnez une zone de texte et passez-la en noir pour révéler la réponse. Point de départ : 34 NOK sur 281 contrôles (alignement 16, bulles 8, couleur 6, rayures 4). Question piège : pourquoi n'y a-t-il pas de branche P6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remarquer : un même défaut (alignement) a des causes sur 3 postes différents (P1, P3, P4). La caméra en P5 voit l'effet, pas la cause : c'est l'intérêt du diagramme. Le stock n'est pas un poste mais il conditionne la matière qui entre en P1.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Méthode des 5 pourquoi appliquée à la 2e cause du Pareto (bulles, 8 NOK sur 34). On s'arrête quand la réponse désigne quelque chose sur lequel on peut agir et qui empêche la récidive : ici une exigence de température, pas « l'opérateur a mal réglé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Alignement et bulles = 71 % des NOK : ce sont les deux premières barres du Pareto, on les traite en premier. Lien D1 : si l'équipe 1 déplace le marouflage de P4 vers P5, la régulation de température doit suivre le module rouleau. Lien D6 : le stock fournit la bonne coque, propre et à la bonne température.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remarquer le cas du contrôle P5 : un mauvais éclairage crée des faux NOK, c'est-à-dire des coques bonnes jetées. Cela pèse sur le facteur Qualité du TRS (défi 3) sans que le produit soit défectueux. Lien D2 : une coque qui attend 2 heures devant P4 a plus de chances d'être rayée ou empoussiérée.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de fin : aucune équipe ne peut atteindre ses objectifs seule. Les résultats du corrigé le montrent : les actions qualité seules donnent environ 3,8 % de NOK ; il faut la maintenance conditionnelle du défi 4 pour descendre durablement sous 3 %.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01168" y="274320"/>
            <a:ext cx="73152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2800" dirty="0">
                <a:solidFill>
                  <a:srgbClr val="993399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EXERCICE 3 - DIAGRAMME </a:t>
            </a:r>
            <a:r>
              <a:rPr lang="en-US" sz="2800" b="1" dirty="0">
                <a:solidFill>
                  <a:srgbClr val="993399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ISHIKAWA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3200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branches ne sont plus les 5M : ce sont les postes de la mini-usine et le stock. Pour chaque poste, trouvez 2 causes de NOK et le type de défaut provoqué.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3429000"/>
            <a:ext cx="10195560" cy="0"/>
          </a:xfrm>
          <a:prstGeom prst="line">
            <a:avLst/>
          </a:prstGeom>
          <a:noFill/>
          <a:ln w="38100">
            <a:solidFill>
              <a:srgbClr val="808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5400000">
            <a:off x="10561320" y="2697480"/>
            <a:ext cx="1463040" cy="1463040"/>
          </a:xfrm>
          <a:prstGeom prst="triangl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pic>
        <p:nvPicPr>
          <p:cNvPr id="6" name="Image 0" descr="Courbe descendan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3154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50215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2094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EFFET :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52094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12,1 % de NOK caméra (34 / 281)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32104" y="1600200"/>
            <a:ext cx="173736" cy="502920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0" y="1600200"/>
            <a:ext cx="1600200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96896" y="1600200"/>
            <a:ext cx="512064" cy="502920"/>
          </a:xfrm>
          <a:prstGeom prst="rtTriangl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1600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ALIMENTATION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606040" y="2103120"/>
            <a:ext cx="1325880" cy="1325880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2542032"/>
            <a:ext cx="2103120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438912" y="21122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 modèle de coque chargé (QR mal lu)  [alignement]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399032" y="3044952"/>
            <a:ext cx="2103120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941832" y="26151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Coque mal calée sur le gabarit du convoyeur  [alignement]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58184" y="1600200"/>
            <a:ext cx="173736" cy="50292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31920" y="1600200"/>
            <a:ext cx="1600200" cy="5029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22976" y="1600200"/>
            <a:ext cx="512064" cy="502920"/>
          </a:xfrm>
          <a:prstGeom prst="rtTriangl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31920" y="1600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IMPRESSION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532120" y="2103120"/>
            <a:ext cx="1325880" cy="1325880"/>
          </a:xfrm>
          <a:prstGeom prst="line">
            <a:avLst/>
          </a:prstGeom>
          <a:noFill/>
          <a:ln w="22225">
            <a:solidFill>
              <a:srgbClr val="ED7D3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22192" y="2542032"/>
            <a:ext cx="210312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3364992" y="21122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 encrassées, encre en fin de cartouche  [couleur]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325112" y="3044952"/>
            <a:ext cx="210312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3867912" y="26151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couleur inadapté au film du sticker  [couleur]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684264" y="1600200"/>
            <a:ext cx="173736" cy="50292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58000" y="1600200"/>
            <a:ext cx="1600200" cy="5029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49056" y="1600200"/>
            <a:ext cx="512064" cy="502920"/>
          </a:xfrm>
          <a:prstGeom prst="rtTriangl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0" y="1600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DÉCOUPE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458200" y="2103120"/>
            <a:ext cx="1325880" cy="1325880"/>
          </a:xfrm>
          <a:prstGeom prst="line">
            <a:avLst/>
          </a:prstGeom>
          <a:noFill/>
          <a:ln w="22225">
            <a:solidFill>
              <a:srgbClr val="70AD4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48272" y="2542032"/>
            <a:ext cx="2103120" cy="0"/>
          </a:xfrm>
          <a:prstGeom prst="line">
            <a:avLst/>
          </a:prstGeom>
          <a:noFill/>
          <a:ln w="12700">
            <a:solidFill>
              <a:srgbClr val="70AD47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6291072" y="21122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Repères de découpe décalés : sticker hors cotes  [alignement]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251192" y="3044952"/>
            <a:ext cx="2103120" cy="0"/>
          </a:xfrm>
          <a:prstGeom prst="line">
            <a:avLst/>
          </a:prstGeom>
          <a:noFill/>
          <a:ln w="12700">
            <a:solidFill>
              <a:srgbClr val="70AD47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6793992" y="26151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Convoyeur encrassé par les chutes de découpe  [rayures]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066544" y="4754880"/>
            <a:ext cx="173736" cy="502920"/>
          </a:xfrm>
          <a:prstGeom prst="rect">
            <a:avLst/>
          </a:prstGeom>
          <a:solidFill>
            <a:srgbClr val="6B1F6B"/>
          </a:solidFill>
          <a:ln w="12700">
            <a:solidFill>
              <a:srgbClr val="6B1F6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240280" y="4754880"/>
            <a:ext cx="1600200" cy="502920"/>
          </a:xfrm>
          <a:prstGeom prst="rect">
            <a:avLst/>
          </a:prstGeom>
          <a:solidFill>
            <a:srgbClr val="993399"/>
          </a:solidFill>
          <a:ln w="12700">
            <a:solidFill>
              <a:srgbClr val="99339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3831336" y="4754880"/>
            <a:ext cx="512064" cy="502920"/>
          </a:xfrm>
          <a:prstGeom prst="rtTriangle">
            <a:avLst/>
          </a:prstGeom>
          <a:solidFill>
            <a:srgbClr val="993399"/>
          </a:solidFill>
          <a:ln w="12700">
            <a:solidFill>
              <a:srgbClr val="993399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240280" y="4754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COQUES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 flipV="1">
            <a:off x="3840480" y="3429000"/>
            <a:ext cx="1325880" cy="1325880"/>
          </a:xfrm>
          <a:prstGeom prst="line">
            <a:avLst/>
          </a:prstGeom>
          <a:noFill/>
          <a:ln w="22225">
            <a:solidFill>
              <a:srgbClr val="99339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487168" y="3959352"/>
            <a:ext cx="2103120" cy="0"/>
          </a:xfrm>
          <a:prstGeom prst="line">
            <a:avLst/>
          </a:prstGeom>
          <a:noFill/>
          <a:ln w="12700">
            <a:solidFill>
              <a:srgbClr val="993399"/>
            </a:solidFill>
            <a:prstDash val="solid"/>
            <a:tailEnd type="triangle"/>
          </a:ln>
        </p:spPr>
      </p:sp>
      <p:sp>
        <p:nvSpPr>
          <p:cNvPr id="41" name="Text 38"/>
          <p:cNvSpPr txBox="1"/>
          <p:nvPr/>
        </p:nvSpPr>
        <p:spPr>
          <a:xfrm>
            <a:off x="2459736" y="35295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Magasin non tempéré : coques froides (12–14 °C)  [bulles]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1984248" y="4462272"/>
            <a:ext cx="2103120" cy="0"/>
          </a:xfrm>
          <a:prstGeom prst="line">
            <a:avLst/>
          </a:prstGeom>
          <a:noFill/>
          <a:ln w="12700">
            <a:solidFill>
              <a:srgbClr val="993399"/>
            </a:solidFill>
            <a:prstDash val="solid"/>
            <a:tailEnd type="triangle"/>
          </a:ln>
        </p:spPr>
      </p:sp>
      <p:sp>
        <p:nvSpPr>
          <p:cNvPr id="43" name="Text 40"/>
          <p:cNvSpPr txBox="1"/>
          <p:nvPr/>
        </p:nvSpPr>
        <p:spPr>
          <a:xfrm>
            <a:off x="1956816" y="40325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Coques stockées hors film, poussière  [rayures]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992624" y="4754880"/>
            <a:ext cx="173736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166360" y="4754880"/>
            <a:ext cx="1600200" cy="50292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flipV="1">
            <a:off x="6757416" y="4754880"/>
            <a:ext cx="512064" cy="502920"/>
          </a:xfrm>
          <a:prstGeom prst="rtTriangl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166360" y="4754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POSE / MAROUFL.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 flipV="1">
            <a:off x="6766560" y="3429000"/>
            <a:ext cx="1325880" cy="1325880"/>
          </a:xfrm>
          <a:prstGeom prst="line">
            <a:avLst/>
          </a:prstGeom>
          <a:noFill/>
          <a:ln w="22225">
            <a:solidFill>
              <a:srgbClr val="5B9BD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413248" y="3959352"/>
            <a:ext cx="2103120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50" name="Text 47"/>
          <p:cNvSpPr txBox="1"/>
          <p:nvPr/>
        </p:nvSpPr>
        <p:spPr>
          <a:xfrm>
            <a:off x="5385816" y="35295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Ventouse usée : le recalage du robot dérive  [alignement]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910328" y="4462272"/>
            <a:ext cx="2103120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52" name="Text 49"/>
          <p:cNvSpPr txBox="1"/>
          <p:nvPr/>
        </p:nvSpPr>
        <p:spPr>
          <a:xfrm>
            <a:off x="4882896" y="40325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Rouleau de marouflage froid, pression non réglée  [bulles]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7918704" y="4754880"/>
            <a:ext cx="173736" cy="502920"/>
          </a:xfrm>
          <a:prstGeom prst="rect">
            <a:avLst/>
          </a:prstGeom>
          <a:solidFill>
            <a:srgbClr val="535353"/>
          </a:solidFill>
          <a:ln w="12700">
            <a:solidFill>
              <a:srgbClr val="53535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092440" y="4754880"/>
            <a:ext cx="1600200" cy="502920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flipV="1">
            <a:off x="9683496" y="4754880"/>
            <a:ext cx="512064" cy="502920"/>
          </a:xfrm>
          <a:prstGeom prst="rtTriangle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92440" y="4754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CONTRÔLE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 flipV="1">
            <a:off x="9692640" y="3429000"/>
            <a:ext cx="1325880" cy="1325880"/>
          </a:xfrm>
          <a:prstGeom prst="line">
            <a:avLst/>
          </a:prstGeom>
          <a:noFill/>
          <a:ln w="22225">
            <a:solidFill>
              <a:srgbClr val="A5A5A5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339328" y="3959352"/>
            <a:ext cx="2103120" cy="0"/>
          </a:xfrm>
          <a:prstGeom prst="line">
            <a:avLst/>
          </a:prstGeom>
          <a:noFill/>
          <a:ln w="12700">
            <a:solidFill>
              <a:srgbClr val="A5A5A5"/>
            </a:solidFill>
            <a:prstDash val="solid"/>
            <a:tailEnd type="triangle"/>
          </a:ln>
        </p:spPr>
      </p:sp>
      <p:sp>
        <p:nvSpPr>
          <p:cNvPr id="59" name="Text 56"/>
          <p:cNvSpPr txBox="1"/>
          <p:nvPr/>
        </p:nvSpPr>
        <p:spPr>
          <a:xfrm>
            <a:off x="8311896" y="35295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Éclairage variable : couleurs mal évaluées  [couleur]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7836408" y="4462272"/>
            <a:ext cx="2103120" cy="0"/>
          </a:xfrm>
          <a:prstGeom prst="line">
            <a:avLst/>
          </a:prstGeom>
          <a:noFill/>
          <a:ln w="12700">
            <a:solidFill>
              <a:srgbClr val="A5A5A5"/>
            </a:solidFill>
            <a:prstDash val="solid"/>
            <a:tailEnd type="triangle"/>
          </a:ln>
        </p:spPr>
      </p:sp>
      <p:sp>
        <p:nvSpPr>
          <p:cNvPr id="61" name="Text 58"/>
          <p:cNvSpPr txBox="1"/>
          <p:nvPr/>
        </p:nvSpPr>
        <p:spPr>
          <a:xfrm>
            <a:off x="7808976" y="40325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de tolérance de la caméra non étalonnés  [tous]</a:t>
            </a:r>
            <a:endParaRPr lang="en-US" sz="1100" dirty="0"/>
          </a:p>
        </p:txBody>
      </p:sp>
      <p:sp>
        <p:nvSpPr>
          <p:cNvPr id="62" name="Text 59"/>
          <p:cNvSpPr txBox="1"/>
          <p:nvPr/>
        </p:nvSpPr>
        <p:spPr>
          <a:xfrm>
            <a:off x="2743200" y="626364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 : </a:t>
            </a: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alignement   </a:t>
            </a: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bulles   </a:t>
            </a:r>
            <a:r>
              <a:rPr lang="en-US" sz="11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couleur   </a:t>
            </a: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rayures   </a:t>
            </a: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P6 Emballage est APRÈS la caméra : il ne peut pas provoquer un NOK.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01168" y="274320"/>
            <a:ext cx="73152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2800" dirty="0">
                <a:solidFill>
                  <a:srgbClr val="993399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CORRIGÉ 3 - DIAGRAMME </a:t>
            </a:r>
            <a:r>
              <a:rPr lang="en-US" sz="2800" b="1" dirty="0">
                <a:solidFill>
                  <a:srgbClr val="993399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ISHIKAWA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3200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cause est rattachée au poste où elle naît, et au type de défaut que la caméra détecte en P5.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3429000"/>
            <a:ext cx="10195560" cy="0"/>
          </a:xfrm>
          <a:prstGeom prst="line">
            <a:avLst/>
          </a:prstGeom>
          <a:noFill/>
          <a:ln w="38100">
            <a:solidFill>
              <a:srgbClr val="808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5400000">
            <a:off x="10561320" y="2697480"/>
            <a:ext cx="1463040" cy="1463040"/>
          </a:xfrm>
          <a:prstGeom prst="triangl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pic>
        <p:nvPicPr>
          <p:cNvPr id="6" name="Image 0" descr="Courbe descendan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3154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502152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2094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EFFET :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520946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12,1 % de NOK caméra (34 / 281)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32104" y="1600200"/>
            <a:ext cx="173736" cy="502920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0" y="1600200"/>
            <a:ext cx="1600200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96896" y="1600200"/>
            <a:ext cx="512064" cy="502920"/>
          </a:xfrm>
          <a:prstGeom prst="rtTriangl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1600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ALIMENTATION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606040" y="2103120"/>
            <a:ext cx="1325880" cy="1325880"/>
          </a:xfrm>
          <a:prstGeom prst="line">
            <a:avLst/>
          </a:prstGeom>
          <a:noFill/>
          <a:ln w="22225">
            <a:solidFill>
              <a:srgbClr val="4472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2542032"/>
            <a:ext cx="2103120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438912" y="21122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 modèle de coque chargé (QR mal lu)</a:t>
            </a: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[alignement]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399032" y="3044952"/>
            <a:ext cx="2103120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941832" y="26151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Coque mal calée sur le gabarit du convoyeur</a:t>
            </a: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[alignement]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58184" y="1600200"/>
            <a:ext cx="173736" cy="50292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31920" y="1600200"/>
            <a:ext cx="1600200" cy="5029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22976" y="1600200"/>
            <a:ext cx="512064" cy="502920"/>
          </a:xfrm>
          <a:prstGeom prst="rtTriangl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31920" y="1600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IMPRESSION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532120" y="2103120"/>
            <a:ext cx="1325880" cy="1325880"/>
          </a:xfrm>
          <a:prstGeom prst="line">
            <a:avLst/>
          </a:prstGeom>
          <a:noFill/>
          <a:ln w="22225">
            <a:solidFill>
              <a:srgbClr val="ED7D3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22192" y="2542032"/>
            <a:ext cx="210312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3364992" y="21122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 encrassées, encre en fin de cartouche</a:t>
            </a:r>
            <a:r>
              <a:rPr lang="en-US" sz="11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[couleur]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325112" y="3044952"/>
            <a:ext cx="210312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3867912" y="26151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couleur inadapté au film du sticker</a:t>
            </a:r>
            <a:r>
              <a:rPr lang="en-US" sz="11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[couleur]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684264" y="1600200"/>
            <a:ext cx="173736" cy="50292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58000" y="1600200"/>
            <a:ext cx="1600200" cy="5029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49056" y="1600200"/>
            <a:ext cx="512064" cy="502920"/>
          </a:xfrm>
          <a:prstGeom prst="rtTriangl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0" y="1600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DÉCOUPE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458200" y="2103120"/>
            <a:ext cx="1325880" cy="1325880"/>
          </a:xfrm>
          <a:prstGeom prst="line">
            <a:avLst/>
          </a:prstGeom>
          <a:noFill/>
          <a:ln w="22225">
            <a:solidFill>
              <a:srgbClr val="70AD4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48272" y="2542032"/>
            <a:ext cx="2103120" cy="0"/>
          </a:xfrm>
          <a:prstGeom prst="line">
            <a:avLst/>
          </a:prstGeom>
          <a:noFill/>
          <a:ln w="12700">
            <a:solidFill>
              <a:srgbClr val="70AD47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6291072" y="21122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Repères de découpe décalés : sticker hors cotes</a:t>
            </a: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[alignement]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251192" y="3044952"/>
            <a:ext cx="2103120" cy="0"/>
          </a:xfrm>
          <a:prstGeom prst="line">
            <a:avLst/>
          </a:prstGeom>
          <a:noFill/>
          <a:ln w="12700">
            <a:solidFill>
              <a:srgbClr val="70AD47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6793992" y="26151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Convoyeur encrassé par les chutes de découpe</a:t>
            </a: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[rayures]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066544" y="4754880"/>
            <a:ext cx="173736" cy="502920"/>
          </a:xfrm>
          <a:prstGeom prst="rect">
            <a:avLst/>
          </a:prstGeom>
          <a:solidFill>
            <a:srgbClr val="6B1F6B"/>
          </a:solidFill>
          <a:ln w="12700">
            <a:solidFill>
              <a:srgbClr val="6B1F6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240280" y="4754880"/>
            <a:ext cx="1600200" cy="502920"/>
          </a:xfrm>
          <a:prstGeom prst="rect">
            <a:avLst/>
          </a:prstGeom>
          <a:solidFill>
            <a:srgbClr val="993399"/>
          </a:solidFill>
          <a:ln w="12700">
            <a:solidFill>
              <a:srgbClr val="99339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3831336" y="4754880"/>
            <a:ext cx="512064" cy="502920"/>
          </a:xfrm>
          <a:prstGeom prst="rtTriangle">
            <a:avLst/>
          </a:prstGeom>
          <a:solidFill>
            <a:srgbClr val="993399"/>
          </a:solidFill>
          <a:ln w="12700">
            <a:solidFill>
              <a:srgbClr val="993399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2240280" y="4754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COQUES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 flipV="1">
            <a:off x="3840480" y="3429000"/>
            <a:ext cx="1325880" cy="1325880"/>
          </a:xfrm>
          <a:prstGeom prst="line">
            <a:avLst/>
          </a:prstGeom>
          <a:noFill/>
          <a:ln w="22225">
            <a:solidFill>
              <a:srgbClr val="99339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487168" y="3959352"/>
            <a:ext cx="2103120" cy="0"/>
          </a:xfrm>
          <a:prstGeom prst="line">
            <a:avLst/>
          </a:prstGeom>
          <a:noFill/>
          <a:ln w="12700">
            <a:solidFill>
              <a:srgbClr val="993399"/>
            </a:solidFill>
            <a:prstDash val="solid"/>
            <a:tailEnd type="triangle"/>
          </a:ln>
        </p:spPr>
      </p:sp>
      <p:sp>
        <p:nvSpPr>
          <p:cNvPr id="41" name="Text 38"/>
          <p:cNvSpPr txBox="1"/>
          <p:nvPr/>
        </p:nvSpPr>
        <p:spPr>
          <a:xfrm>
            <a:off x="2459736" y="35295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Magasin non tempéré : coques froides (12–14 °C)</a:t>
            </a: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[bulles]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1984248" y="4462272"/>
            <a:ext cx="2103120" cy="0"/>
          </a:xfrm>
          <a:prstGeom prst="line">
            <a:avLst/>
          </a:prstGeom>
          <a:noFill/>
          <a:ln w="12700">
            <a:solidFill>
              <a:srgbClr val="993399"/>
            </a:solidFill>
            <a:prstDash val="solid"/>
            <a:tailEnd type="triangle"/>
          </a:ln>
        </p:spPr>
      </p:sp>
      <p:sp>
        <p:nvSpPr>
          <p:cNvPr id="43" name="Text 40"/>
          <p:cNvSpPr txBox="1"/>
          <p:nvPr/>
        </p:nvSpPr>
        <p:spPr>
          <a:xfrm>
            <a:off x="1956816" y="40325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Coques stockées hors film, poussière</a:t>
            </a: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[rayures]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992624" y="4754880"/>
            <a:ext cx="173736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166360" y="4754880"/>
            <a:ext cx="1600200" cy="50292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flipV="1">
            <a:off x="6757416" y="4754880"/>
            <a:ext cx="512064" cy="502920"/>
          </a:xfrm>
          <a:prstGeom prst="rtTriangl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166360" y="4754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POSE / MAROUFL.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 flipV="1">
            <a:off x="6766560" y="3429000"/>
            <a:ext cx="1325880" cy="1325880"/>
          </a:xfrm>
          <a:prstGeom prst="line">
            <a:avLst/>
          </a:prstGeom>
          <a:noFill/>
          <a:ln w="22225">
            <a:solidFill>
              <a:srgbClr val="5B9BD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413248" y="3959352"/>
            <a:ext cx="2103120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50" name="Text 47"/>
          <p:cNvSpPr txBox="1"/>
          <p:nvPr/>
        </p:nvSpPr>
        <p:spPr>
          <a:xfrm>
            <a:off x="5385816" y="35295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Ventouse usée : le recalage du robot dérive</a:t>
            </a: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[alignement]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910328" y="4462272"/>
            <a:ext cx="2103120" cy="0"/>
          </a:xfrm>
          <a:prstGeom prst="line">
            <a:avLst/>
          </a:prstGeom>
          <a:noFill/>
          <a:ln w="1270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52" name="Text 49"/>
          <p:cNvSpPr txBox="1"/>
          <p:nvPr/>
        </p:nvSpPr>
        <p:spPr>
          <a:xfrm>
            <a:off x="4882896" y="40325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Rouleau de marouflage froid, pression non réglée</a:t>
            </a: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[bulles]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7918704" y="4754880"/>
            <a:ext cx="173736" cy="502920"/>
          </a:xfrm>
          <a:prstGeom prst="rect">
            <a:avLst/>
          </a:prstGeom>
          <a:solidFill>
            <a:srgbClr val="535353"/>
          </a:solidFill>
          <a:ln w="12700">
            <a:solidFill>
              <a:srgbClr val="53535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092440" y="4754880"/>
            <a:ext cx="1600200" cy="502920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flipV="1">
            <a:off x="9683496" y="4754880"/>
            <a:ext cx="512064" cy="502920"/>
          </a:xfrm>
          <a:prstGeom prst="rtTriangle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92440" y="4754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CONTRÔLE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 flipV="1">
            <a:off x="9692640" y="3429000"/>
            <a:ext cx="1325880" cy="1325880"/>
          </a:xfrm>
          <a:prstGeom prst="line">
            <a:avLst/>
          </a:prstGeom>
          <a:noFill/>
          <a:ln w="22225">
            <a:solidFill>
              <a:srgbClr val="A5A5A5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339328" y="3959352"/>
            <a:ext cx="2103120" cy="0"/>
          </a:xfrm>
          <a:prstGeom prst="line">
            <a:avLst/>
          </a:prstGeom>
          <a:noFill/>
          <a:ln w="12700">
            <a:solidFill>
              <a:srgbClr val="A5A5A5"/>
            </a:solidFill>
            <a:prstDash val="solid"/>
            <a:tailEnd type="triangle"/>
          </a:ln>
        </p:spPr>
      </p:sp>
      <p:sp>
        <p:nvSpPr>
          <p:cNvPr id="59" name="Text 56"/>
          <p:cNvSpPr txBox="1"/>
          <p:nvPr/>
        </p:nvSpPr>
        <p:spPr>
          <a:xfrm>
            <a:off x="8311896" y="35295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Éclairage variable : couleurs mal évaluées</a:t>
            </a:r>
            <a:r>
              <a:rPr lang="en-US" sz="11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[couleur]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7836408" y="4462272"/>
            <a:ext cx="2103120" cy="0"/>
          </a:xfrm>
          <a:prstGeom prst="line">
            <a:avLst/>
          </a:prstGeom>
          <a:noFill/>
          <a:ln w="12700">
            <a:solidFill>
              <a:srgbClr val="A5A5A5"/>
            </a:solidFill>
            <a:prstDash val="solid"/>
            <a:tailEnd type="triangle"/>
          </a:ln>
        </p:spPr>
      </p:sp>
      <p:sp>
        <p:nvSpPr>
          <p:cNvPr id="61" name="Text 58"/>
          <p:cNvSpPr txBox="1"/>
          <p:nvPr/>
        </p:nvSpPr>
        <p:spPr>
          <a:xfrm>
            <a:off x="7808976" y="40325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de tolérance de la caméra non étalonnés</a:t>
            </a: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[tous]</a:t>
            </a:r>
            <a:endParaRPr lang="en-US" sz="1100" dirty="0"/>
          </a:p>
        </p:txBody>
      </p:sp>
      <p:sp>
        <p:nvSpPr>
          <p:cNvPr id="62" name="Text 59"/>
          <p:cNvSpPr txBox="1"/>
          <p:nvPr/>
        </p:nvSpPr>
        <p:spPr>
          <a:xfrm>
            <a:off x="2743200" y="626364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 : </a:t>
            </a: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alignement   </a:t>
            </a: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bulles   </a:t>
            </a:r>
            <a:r>
              <a:rPr lang="en-US" sz="11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couleur   </a:t>
            </a: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rayures   </a:t>
            </a: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P6 Emballage est APRÈS la caméra : il ne peut pas provoquer un NOK.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01168" y="274320"/>
            <a:ext cx="73152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2800" dirty="0">
                <a:solidFill>
                  <a:srgbClr val="993399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DES BULLES À LA CAUSE </a:t>
            </a:r>
            <a:r>
              <a:rPr lang="en-US" sz="2800" b="1" dirty="0">
                <a:solidFill>
                  <a:srgbClr val="993399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RACINE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527048"/>
            <a:ext cx="566928" cy="566928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527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4630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des NOK « bulles » 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l'air reste piégé sous le sticker après le marouflage.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304288"/>
            <a:ext cx="566928" cy="566928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24028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l'air reste-t-il piégé 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L'adhésif ne s'étale pas assez sous le rouleau.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081528"/>
            <a:ext cx="566928" cy="566928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081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01752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l'adhésif s'étale-t-il mal 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trop froid : il reste rigide.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58768"/>
            <a:ext cx="566928" cy="566928"/>
          </a:xfrm>
          <a:prstGeom prst="ellipse">
            <a:avLst/>
          </a:prstGeom>
          <a:solidFill>
            <a:srgbClr val="5B9B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858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79476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est-il trop froid 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coques sortent d'un magasin non chauffé et le rouleau n'est pas chauffé.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636008"/>
            <a:ext cx="566928" cy="566928"/>
          </a:xfrm>
          <a:prstGeom prst="ellipse">
            <a:avLst/>
          </a:prstGeom>
          <a:solidFill>
            <a:srgbClr val="9933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636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57200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température n'est exigée, ni pour le stock ni pour le poste P4.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40880" y="1600200"/>
            <a:ext cx="4572000" cy="4206240"/>
          </a:xfrm>
          <a:prstGeom prst="roundRect">
            <a:avLst>
              <a:gd name="adj" fmla="val 2609"/>
            </a:avLst>
          </a:prstGeom>
          <a:solidFill>
            <a:srgbClr val="F3E8F3"/>
          </a:solidFill>
          <a:ln w="19050">
            <a:solidFill>
              <a:srgbClr val="9933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9480" y="1783080"/>
            <a:ext cx="41605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99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racine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maîtrise de la température de la matière (stock) et de l'outil (rouleau).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99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: rouleau chauffant régulé (consigne à fixer, ex. 40 °C ± 2 °C) et pression de marouflage fixée.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: magasin tempéré 18 à 22 °C ; coques sorties la veille et gardées dans leur film.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: température relevée par la Tab5 du poste, NOK « bulles » par jour.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5897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températures sont des ordres de grandeur pédagogiques : la valeur réelle se lit sur la fiche technique du film adhésif.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01168" y="274320"/>
            <a:ext cx="73152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2800" dirty="0">
                <a:solidFill>
                  <a:srgbClr val="993399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DES CAUSES AUX </a:t>
            </a:r>
            <a:r>
              <a:rPr lang="en-US" sz="2800" b="1" dirty="0">
                <a:solidFill>
                  <a:srgbClr val="993399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ACTIONS (1/2)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868680" y="1508760"/>
          <a:ext cx="10881360" cy="370332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2468880"/>
                <a:gridCol w="3200400"/>
                <a:gridCol w="1874520"/>
                <a:gridCol w="96012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Défaut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 racine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proposée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 de suivi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 lié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9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47 % des NOK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Pose robot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Ventouse usée : le recalage du robot dérive avec l'usure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Changer la ventouse et recalibrer dès que la vibration dépasse 4 mm/s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NOK alignement / jour, vibration P4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Alimentation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Mauvais modèle chargé ou coque mal calée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Gabarit détrompeur par famille de modèles ; lecture du QR bloquante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NOK alignement par modèle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6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6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24 % des NOK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Marouflage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Rouleau froid, pression non maîtrisée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Rouleau chauffant régulé + pression fixée et vérifiée à la prise de poste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Température rouleau, NOK bulles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6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coques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Coques froides et poussiéreuses à l'entrée de P1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Magasin tempéré, coques conservées dans leur film, rotation FIFO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Température magasin, ancienneté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01168" y="274320"/>
            <a:ext cx="73152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2800" dirty="0">
                <a:solidFill>
                  <a:srgbClr val="993399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DES CAUSES AUX </a:t>
            </a:r>
            <a:r>
              <a:rPr lang="en-US" sz="2800" b="1" dirty="0">
                <a:solidFill>
                  <a:srgbClr val="993399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ACTIONS (2/2)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868680" y="1508760"/>
          <a:ext cx="10881360" cy="370332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2468880"/>
                <a:gridCol w="3200400"/>
                <a:gridCol w="1874520"/>
                <a:gridCol w="96012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Défaut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 racine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proposée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 de suivi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 lié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9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977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977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18 % des NOK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Impression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Buses encrassées, encre en fin de cartouche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Nettoyage des buses déclenché par la vibration ou un compteur de pages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NOK couleur / jour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977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Impression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 couleur inadapté au lot de stickers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Refaire le profil couleur à chaque nouveau lot de film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 de teinte mesuré sur une mire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977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 Contrôle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Éclairage variable : faux NOK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Caisson d'éclairage fermé, étalonnage caméra avec une mire chaque matin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faux NOK (recontrôle)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C34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Rayures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C34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12 % des NOK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/ convoyeur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Chutes de découpe sur le convoyeur, coques qui attendent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Nettoyage 5S en début de poste, aspiration des chutes, moins d'en-cours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NOK rayures / jour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01168" y="274320"/>
            <a:ext cx="73152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2800" dirty="0">
                <a:solidFill>
                  <a:srgbClr val="993399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LA QUALITÉ RELIE </a:t>
            </a:r>
            <a:r>
              <a:rPr lang="en-US" sz="2800" b="1" dirty="0">
                <a:solidFill>
                  <a:srgbClr val="993399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LES 6 DÉFIS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846320" y="2926080"/>
            <a:ext cx="2468880" cy="1828800"/>
          </a:xfrm>
          <a:prstGeom prst="ellipse">
            <a:avLst/>
          </a:prstGeom>
          <a:solidFill>
            <a:srgbClr val="993399"/>
          </a:solidFill>
          <a:ln w="12700">
            <a:solidFill>
              <a:srgbClr val="9933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46320" y="29260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5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visuelle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12,1 % NOK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9047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Équilibrage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Déplacer le marouflage en P5 : la régulation du rouleau doit suivre.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366760" y="141732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03920" y="149047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Kanban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d'en-cours devant P4 : moins de coques rayées ou empoussiérées.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5B9B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36499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TRS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NOK fait baisser le facteur Qualité ; les faux NOK aussi.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66760" y="329184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0" y="336499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Maintenance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Ventouse usée = alignement ; buses encrassées = couleur.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80560" y="525780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A5A5A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533095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 Stocks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Coque propre, au bon modèle, à la bonne température.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40480" y="2377440"/>
            <a:ext cx="1143000" cy="91440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7178040" y="2377440"/>
            <a:ext cx="1188720" cy="91440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40480" y="3840480"/>
            <a:ext cx="100584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7315200" y="3840480"/>
            <a:ext cx="105156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6080760" y="4754880"/>
            <a:ext cx="0" cy="50292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1351</Words>
  <Application>Microsoft Office PowerPoint</Application>
  <PresentationFormat>Personnalisé</PresentationFormat>
  <Paragraphs>162</Paragraphs>
  <Slides>6</Slides>
  <Notes>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Office Theme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 Ishikawa — CyPAM : défauts au contrôle caméra</dc:title>
  <dc:subject>PptxGenJS Presentation</dc:subject>
  <dc:creator>Kiiway</dc:creator>
  <cp:lastModifiedBy>Hakim</cp:lastModifiedBy>
  <cp:revision>1</cp:revision>
  <dcterms:created xsi:type="dcterms:W3CDTF">2026-10-28T07:25:25Z</dcterms:created>
  <dcterms:modified xsi:type="dcterms:W3CDTF">2026-10-28T08:17:52Z</dcterms:modified>
</cp:coreProperties>
</file>